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6730" y="736600"/>
            <a:ext cx="1114806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84" b="1" dirty="0">
                <a:solidFill>
                  <a:srgbClr val="83C5B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Analiza Churn &amp; Retenție Clienți</a:t>
            </a:r>
            <a:endParaRPr lang="en-US" sz="6384" dirty="0"/>
          </a:p>
        </p:txBody>
      </p:sp>
      <p:sp>
        <p:nvSpPr>
          <p:cNvPr id="3" name="Text 1"/>
          <p:cNvSpPr txBox="1"/>
          <p:nvPr/>
        </p:nvSpPr>
        <p:spPr>
          <a:xfrm>
            <a:off x="506730" y="2463800"/>
            <a:ext cx="111480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94" dirty="0">
                <a:solidFill>
                  <a:srgbClr val="006D7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DataTel - Studiu Predictiv și Strategie de Retenție</a:t>
            </a:r>
            <a:endParaRPr lang="en-US" sz="2394" dirty="0"/>
          </a:p>
        </p:txBody>
      </p:sp>
      <p:sp>
        <p:nvSpPr>
          <p:cNvPr id="4" name="Shape 2"/>
          <p:cNvSpPr/>
          <p:nvPr/>
        </p:nvSpPr>
        <p:spPr>
          <a:xfrm>
            <a:off x="2432304" y="3276600"/>
            <a:ext cx="3496437" cy="2184400"/>
          </a:xfrm>
          <a:prstGeom prst="roundRect">
            <a:avLst>
              <a:gd name="adj" fmla="val 3894"/>
            </a:avLst>
          </a:prstGeom>
          <a:solidFill>
            <a:srgbClr val="EDF6F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34996" y="3479800"/>
            <a:ext cx="304038" cy="3048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040380" y="3505200"/>
            <a:ext cx="102662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006D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Obiective</a:t>
            </a:r>
            <a:endParaRPr lang="en-US" sz="1795" dirty="0"/>
          </a:p>
        </p:txBody>
      </p:sp>
      <p:sp>
        <p:nvSpPr>
          <p:cNvPr id="7" name="Text 4"/>
          <p:cNvSpPr txBox="1"/>
          <p:nvPr/>
        </p:nvSpPr>
        <p:spPr>
          <a:xfrm>
            <a:off x="2634996" y="3937000"/>
            <a:ext cx="3091053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•</a:t>
            </a:r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Înțelegerea profilului clienților și veniturilor</a:t>
            </a:r>
            <a:endParaRPr lang="en-US" sz="1197" dirty="0"/>
          </a:p>
        </p:txBody>
      </p:sp>
      <p:sp>
        <p:nvSpPr>
          <p:cNvPr id="8" name="Text 5"/>
          <p:cNvSpPr txBox="1"/>
          <p:nvPr/>
        </p:nvSpPr>
        <p:spPr>
          <a:xfrm>
            <a:off x="2634996" y="4419600"/>
            <a:ext cx="30910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•</a:t>
            </a:r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Identificarea factorilor care duc la churn</a:t>
            </a:r>
            <a:endParaRPr lang="en-US" sz="1197" dirty="0"/>
          </a:p>
        </p:txBody>
      </p:sp>
      <p:sp>
        <p:nvSpPr>
          <p:cNvPr id="9" name="Text 6"/>
          <p:cNvSpPr txBox="1"/>
          <p:nvPr/>
        </p:nvSpPr>
        <p:spPr>
          <a:xfrm>
            <a:off x="2634996" y="4724400"/>
            <a:ext cx="30910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•</a:t>
            </a:r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Estimarea riscului de churn</a:t>
            </a:r>
            <a:endParaRPr lang="en-US" sz="1197" dirty="0"/>
          </a:p>
        </p:txBody>
      </p:sp>
      <p:sp>
        <p:nvSpPr>
          <p:cNvPr id="10" name="Text 7"/>
          <p:cNvSpPr txBox="1"/>
          <p:nvPr/>
        </p:nvSpPr>
        <p:spPr>
          <a:xfrm>
            <a:off x="2634996" y="5029200"/>
            <a:ext cx="30910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•</a:t>
            </a:r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Optimizarea strategiei de retenție</a:t>
            </a:r>
            <a:endParaRPr lang="en-US" sz="1197" dirty="0"/>
          </a:p>
        </p:txBody>
      </p:sp>
      <p:sp>
        <p:nvSpPr>
          <p:cNvPr id="11" name="Shape 8"/>
          <p:cNvSpPr/>
          <p:nvPr/>
        </p:nvSpPr>
        <p:spPr>
          <a:xfrm>
            <a:off x="6232779" y="3276600"/>
            <a:ext cx="3496437" cy="2184400"/>
          </a:xfrm>
          <a:prstGeom prst="roundRect">
            <a:avLst>
              <a:gd name="adj" fmla="val 3894"/>
            </a:avLst>
          </a:prstGeom>
          <a:solidFill>
            <a:srgbClr val="EDF6F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35471" y="3479800"/>
            <a:ext cx="304038" cy="3048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40855" y="3505200"/>
            <a:ext cx="82383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006D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Dataset</a:t>
            </a:r>
            <a:endParaRPr lang="en-US" sz="1795" dirty="0"/>
          </a:p>
        </p:txBody>
      </p:sp>
      <p:sp>
        <p:nvSpPr>
          <p:cNvPr id="14" name="Text 10"/>
          <p:cNvSpPr txBox="1"/>
          <p:nvPr/>
        </p:nvSpPr>
        <p:spPr>
          <a:xfrm>
            <a:off x="6435471" y="3937000"/>
            <a:ext cx="30910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•</a:t>
            </a:r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300 clienți DataTel</a:t>
            </a:r>
            <a:endParaRPr lang="en-US" sz="1197" dirty="0"/>
          </a:p>
        </p:txBody>
      </p:sp>
      <p:sp>
        <p:nvSpPr>
          <p:cNvPr id="15" name="Text 11"/>
          <p:cNvSpPr txBox="1"/>
          <p:nvPr/>
        </p:nvSpPr>
        <p:spPr>
          <a:xfrm>
            <a:off x="6435471" y="4241800"/>
            <a:ext cx="30910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•</a:t>
            </a:r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Profil: vârstă, segment, regiune, plan</a:t>
            </a:r>
            <a:endParaRPr lang="en-US" sz="1197" dirty="0"/>
          </a:p>
        </p:txBody>
      </p:sp>
      <p:sp>
        <p:nvSpPr>
          <p:cNvPr id="16" name="Text 12"/>
          <p:cNvSpPr txBox="1"/>
          <p:nvPr/>
        </p:nvSpPr>
        <p:spPr>
          <a:xfrm>
            <a:off x="6435471" y="4546600"/>
            <a:ext cx="30910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•</a:t>
            </a:r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Comportament: suport, plăți, autopay</a:t>
            </a:r>
            <a:endParaRPr lang="en-US" sz="1197" dirty="0"/>
          </a:p>
        </p:txBody>
      </p:sp>
      <p:sp>
        <p:nvSpPr>
          <p:cNvPr id="17" name="Text 13"/>
          <p:cNvSpPr txBox="1"/>
          <p:nvPr/>
        </p:nvSpPr>
        <p:spPr>
          <a:xfrm>
            <a:off x="6435471" y="4851400"/>
            <a:ext cx="30910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•</a:t>
            </a:r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Satisfacție &amp; rezultat churn</a:t>
            </a:r>
            <a:endParaRPr lang="en-US" sz="1197" dirty="0"/>
          </a:p>
        </p:txBody>
      </p:sp>
      <p:sp>
        <p:nvSpPr>
          <p:cNvPr id="18" name="Text 14"/>
          <p:cNvSpPr txBox="1"/>
          <p:nvPr/>
        </p:nvSpPr>
        <p:spPr>
          <a:xfrm>
            <a:off x="4245645" y="5918200"/>
            <a:ext cx="367013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7" i="1" dirty="0">
                <a:solidFill>
                  <a:srgbClr val="006D7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Prezentare realizată pentru proiectul de Data Analytics</a:t>
            </a:r>
            <a:endParaRPr lang="en-US" sz="119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6730" y="533400"/>
            <a:ext cx="405384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4133" y="406400"/>
            <a:ext cx="65680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006D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Analiză Descriptivă: Profil &amp; Venituri</a:t>
            </a:r>
            <a:endParaRPr lang="en-US" sz="2993" dirty="0"/>
          </a:p>
        </p:txBody>
      </p:sp>
      <p:sp>
        <p:nvSpPr>
          <p:cNvPr id="4" name="Text 1"/>
          <p:cNvSpPr txBox="1"/>
          <p:nvPr/>
        </p:nvSpPr>
        <p:spPr>
          <a:xfrm>
            <a:off x="1064133" y="838200"/>
            <a:ext cx="65680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006D7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Distribuția veniturilor lunare și vârstei clienților</a:t>
            </a:r>
            <a:endParaRPr lang="en-US" sz="1496" dirty="0"/>
          </a:p>
        </p:txBody>
      </p:sp>
      <p:sp>
        <p:nvSpPr>
          <p:cNvPr id="5" name="Shape 2"/>
          <p:cNvSpPr/>
          <p:nvPr/>
        </p:nvSpPr>
        <p:spPr>
          <a:xfrm>
            <a:off x="506730" y="1270000"/>
            <a:ext cx="5472684" cy="1117600"/>
          </a:xfrm>
          <a:prstGeom prst="roundRect">
            <a:avLst>
              <a:gd name="adj" fmla="val 11157"/>
            </a:avLst>
          </a:prstGeom>
          <a:solidFill>
            <a:srgbClr val="EDF6F9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749" y="1651000"/>
            <a:ext cx="354711" cy="355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65479" y="1422400"/>
            <a:ext cx="41777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Venit Lunar (MonthlyRevenue)</a:t>
            </a:r>
            <a:endParaRPr lang="en-US" sz="1496" dirty="0"/>
          </a:p>
        </p:txBody>
      </p:sp>
      <p:sp>
        <p:nvSpPr>
          <p:cNvPr id="8" name="Text 4"/>
          <p:cNvSpPr txBox="1"/>
          <p:nvPr/>
        </p:nvSpPr>
        <p:spPr>
          <a:xfrm>
            <a:off x="1165479" y="1701800"/>
            <a:ext cx="417775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94" b="1" dirty="0">
                <a:solidFill>
                  <a:srgbClr val="83C5BE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81.26 EUR</a:t>
            </a:r>
            <a:endParaRPr lang="en-US" sz="2394" dirty="0"/>
          </a:p>
        </p:txBody>
      </p:sp>
      <p:sp>
        <p:nvSpPr>
          <p:cNvPr id="9" name="Text 5"/>
          <p:cNvSpPr txBox="1"/>
          <p:nvPr/>
        </p:nvSpPr>
        <p:spPr>
          <a:xfrm>
            <a:off x="1165479" y="2032000"/>
            <a:ext cx="417775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Medie • Mediană: 67.28 EUR • Interval: 8.62 - 303.20 EUR</a:t>
            </a:r>
            <a:endParaRPr lang="en-US" sz="1197" dirty="0"/>
          </a:p>
        </p:txBody>
      </p:sp>
      <p:sp>
        <p:nvSpPr>
          <p:cNvPr id="10" name="Shape 6"/>
          <p:cNvSpPr/>
          <p:nvPr/>
        </p:nvSpPr>
        <p:spPr>
          <a:xfrm>
            <a:off x="6182106" y="1270000"/>
            <a:ext cx="5472684" cy="1117600"/>
          </a:xfrm>
          <a:prstGeom prst="roundRect">
            <a:avLst>
              <a:gd name="adj" fmla="val 11157"/>
            </a:avLst>
          </a:prstGeom>
          <a:solidFill>
            <a:srgbClr val="EDF6F9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34125" y="1651000"/>
            <a:ext cx="354711" cy="355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840855" y="1422400"/>
            <a:ext cx="32986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Vârstă (Age)</a:t>
            </a:r>
            <a:endParaRPr lang="en-US" sz="1496" dirty="0"/>
          </a:p>
        </p:txBody>
      </p:sp>
      <p:sp>
        <p:nvSpPr>
          <p:cNvPr id="13" name="Text 8"/>
          <p:cNvSpPr txBox="1"/>
          <p:nvPr/>
        </p:nvSpPr>
        <p:spPr>
          <a:xfrm>
            <a:off x="6840855" y="1701800"/>
            <a:ext cx="329869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94" b="1" dirty="0">
                <a:solidFill>
                  <a:srgbClr val="83C5BE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45.68 ani</a:t>
            </a:r>
            <a:endParaRPr lang="en-US" sz="2394" dirty="0"/>
          </a:p>
        </p:txBody>
      </p:sp>
      <p:sp>
        <p:nvSpPr>
          <p:cNvPr id="14" name="Text 9"/>
          <p:cNvSpPr txBox="1"/>
          <p:nvPr/>
        </p:nvSpPr>
        <p:spPr>
          <a:xfrm>
            <a:off x="6840855" y="2032000"/>
            <a:ext cx="329869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Medie • Mediană: 46 ani • Interval: 18 - 74 ani</a:t>
            </a:r>
            <a:endParaRPr lang="en-US" sz="1197" dirty="0"/>
          </a:p>
        </p:txBody>
      </p:sp>
      <p:sp>
        <p:nvSpPr>
          <p:cNvPr id="15" name="Text 10"/>
          <p:cNvSpPr txBox="1"/>
          <p:nvPr/>
        </p:nvSpPr>
        <p:spPr>
          <a:xfrm>
            <a:off x="506730" y="2590800"/>
            <a:ext cx="54726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b="1" dirty="0">
                <a:solidFill>
                  <a:srgbClr val="006D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Distribuția Venitului Lunar</a:t>
            </a:r>
            <a:endParaRPr lang="en-US" sz="1496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06730" y="2921000"/>
            <a:ext cx="5472684" cy="27178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182106" y="2590800"/>
            <a:ext cx="54726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b="1" dirty="0">
                <a:solidFill>
                  <a:srgbClr val="006D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Distribuția Vârstei</a:t>
            </a:r>
            <a:endParaRPr lang="en-US" sz="1496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182106" y="2921000"/>
            <a:ext cx="5472684" cy="271780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506730" y="5842000"/>
            <a:ext cx="11148060" cy="609600"/>
          </a:xfrm>
          <a:prstGeom prst="roundRect">
            <a:avLst>
              <a:gd name="adj" fmla="val 37500"/>
            </a:avLst>
          </a:prstGeom>
          <a:solidFill>
            <a:srgbClr val="EDF6F9"/>
          </a:solidFill>
          <a:ln/>
        </p:spPr>
      </p:sp>
      <p:sp>
        <p:nvSpPr>
          <p:cNvPr id="20" name="Text 13"/>
          <p:cNvSpPr txBox="1"/>
          <p:nvPr/>
        </p:nvSpPr>
        <p:spPr>
          <a:xfrm>
            <a:off x="608076" y="5943600"/>
            <a:ext cx="10945368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7" i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💡 Veniturile lunare variază semnificativ (8.62 - 303.20 EUR), cu o concentrare în jurul mediei de 81 EUR. Clienții sunt distribuiți pe o gamă largă de vârste (18-74 ani).</a:t>
            </a:r>
            <a:endParaRPr lang="en-US" sz="119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6730" y="419100"/>
            <a:ext cx="304038" cy="304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2787" y="304800"/>
            <a:ext cx="33883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94" b="1" dirty="0">
                <a:solidFill>
                  <a:srgbClr val="006D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Structura Portofoliului</a:t>
            </a:r>
            <a:endParaRPr lang="en-US" sz="2394" dirty="0"/>
          </a:p>
        </p:txBody>
      </p:sp>
      <p:sp>
        <p:nvSpPr>
          <p:cNvPr id="4" name="Text 1"/>
          <p:cNvSpPr txBox="1"/>
          <p:nvPr/>
        </p:nvSpPr>
        <p:spPr>
          <a:xfrm>
            <a:off x="962787" y="635000"/>
            <a:ext cx="338836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Distribuția clienților pe tip plan, segment și regiune</a:t>
            </a:r>
            <a:endParaRPr lang="en-US" sz="1197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92399" y="939800"/>
            <a:ext cx="8462391" cy="19304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192399" y="2973884"/>
            <a:ext cx="8462391" cy="133985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192399" y="4417417"/>
            <a:ext cx="8462391" cy="1701800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506730" y="6223000"/>
            <a:ext cx="11148060" cy="330200"/>
          </a:xfrm>
          <a:prstGeom prst="roundRect">
            <a:avLst>
              <a:gd name="adj" fmla="val 85207"/>
            </a:avLst>
          </a:prstGeom>
          <a:solidFill>
            <a:srgbClr val="EDF6F9"/>
          </a:solidFill>
          <a:ln/>
        </p:spPr>
      </p:sp>
      <p:sp>
        <p:nvSpPr>
          <p:cNvPr id="9" name="Text 3"/>
          <p:cNvSpPr txBox="1"/>
          <p:nvPr/>
        </p:nvSpPr>
        <p:spPr>
          <a:xfrm>
            <a:off x="582740" y="6299200"/>
            <a:ext cx="1099604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8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Portofoliul este dominat de planurile Standard (40%) și clienții Individual (75%). Distribuția regională este relativ echilibrată.</a:t>
            </a:r>
            <a:endParaRPr lang="en-US" sz="99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6730" y="393700"/>
            <a:ext cx="354711" cy="355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13460" y="254000"/>
            <a:ext cx="656660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Churn Rate: Global and by Segment</a:t>
            </a:r>
            <a:endParaRPr lang="en-US" sz="2993" dirty="0"/>
          </a:p>
        </p:txBody>
      </p:sp>
      <p:sp>
        <p:nvSpPr>
          <p:cNvPr id="4" name="Text 1"/>
          <p:cNvSpPr txBox="1"/>
          <p:nvPr/>
        </p:nvSpPr>
        <p:spPr>
          <a:xfrm>
            <a:off x="1013460" y="660400"/>
            <a:ext cx="65666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Global churn analysis and category breakdown</a:t>
            </a:r>
            <a:endParaRPr lang="en-US" sz="1496" dirty="0"/>
          </a:p>
        </p:txBody>
      </p:sp>
      <p:sp>
        <p:nvSpPr>
          <p:cNvPr id="5" name="Shape 2"/>
          <p:cNvSpPr/>
          <p:nvPr/>
        </p:nvSpPr>
        <p:spPr>
          <a:xfrm>
            <a:off x="506730" y="990600"/>
            <a:ext cx="5472684" cy="1651000"/>
          </a:xfrm>
          <a:prstGeom prst="roundRect">
            <a:avLst>
              <a:gd name="adj" fmla="val 5112"/>
            </a:avLst>
          </a:prstGeom>
          <a:solidFill>
            <a:srgbClr val="EDF6F9"/>
          </a:solidFill>
          <a:ln w="12668">
            <a:solidFill>
              <a:srgbClr val="FFDDD2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065717" y="1155700"/>
            <a:ext cx="354711" cy="355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406275" y="1562100"/>
            <a:ext cx="1673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Global Churn Rate</a:t>
            </a:r>
            <a:endParaRPr lang="en-US" sz="1496" dirty="0"/>
          </a:p>
        </p:txBody>
      </p:sp>
      <p:sp>
        <p:nvSpPr>
          <p:cNvPr id="8" name="Text 4"/>
          <p:cNvSpPr txBox="1"/>
          <p:nvPr/>
        </p:nvSpPr>
        <p:spPr>
          <a:xfrm>
            <a:off x="2517617" y="1816100"/>
            <a:ext cx="14509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91" b="1" dirty="0">
                <a:solidFill>
                  <a:srgbClr val="E57373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2.67%</a:t>
            </a:r>
            <a:endParaRPr lang="en-US" sz="3591" dirty="0"/>
          </a:p>
        </p:txBody>
      </p:sp>
      <p:sp>
        <p:nvSpPr>
          <p:cNvPr id="9" name="Text 5"/>
          <p:cNvSpPr txBox="1"/>
          <p:nvPr/>
        </p:nvSpPr>
        <p:spPr>
          <a:xfrm>
            <a:off x="2228028" y="2298700"/>
            <a:ext cx="2030087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98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(8 out of 300 customers churned)</a:t>
            </a:r>
            <a:endParaRPr lang="en-US" sz="998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82106" y="990600"/>
            <a:ext cx="5472684" cy="16510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06730" y="2743200"/>
            <a:ext cx="3614608" cy="3429000"/>
          </a:xfrm>
          <a:prstGeom prst="roundRect">
            <a:avLst>
              <a:gd name="adj" fmla="val 790"/>
            </a:avLst>
          </a:prstGeom>
          <a:solidFill>
            <a:srgbClr val="F8F9FA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608076" y="2844800"/>
            <a:ext cx="341191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7" b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Churn by Plan Type</a:t>
            </a:r>
            <a:endParaRPr lang="en-US" sz="1197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08076" y="3098800"/>
            <a:ext cx="3407759" cy="297180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273357" y="2743200"/>
            <a:ext cx="3614707" cy="3429000"/>
          </a:xfrm>
          <a:prstGeom prst="roundRect">
            <a:avLst>
              <a:gd name="adj" fmla="val 790"/>
            </a:avLst>
          </a:prstGeom>
          <a:solidFill>
            <a:srgbClr val="F8F9FA"/>
          </a:solidFill>
          <a:ln/>
        </p:spPr>
      </p:sp>
      <p:sp>
        <p:nvSpPr>
          <p:cNvPr id="15" name="Text 9"/>
          <p:cNvSpPr txBox="1"/>
          <p:nvPr/>
        </p:nvSpPr>
        <p:spPr>
          <a:xfrm>
            <a:off x="4374703" y="2844800"/>
            <a:ext cx="341201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7" b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Churn by Segment</a:t>
            </a:r>
            <a:endParaRPr lang="en-US" sz="1197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74703" y="3098800"/>
            <a:ext cx="3407759" cy="297180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8040083" y="2743200"/>
            <a:ext cx="3614707" cy="3429000"/>
          </a:xfrm>
          <a:prstGeom prst="roundRect">
            <a:avLst>
              <a:gd name="adj" fmla="val 790"/>
            </a:avLst>
          </a:prstGeom>
          <a:solidFill>
            <a:srgbClr val="F8F9FA"/>
          </a:solidFill>
          <a:ln/>
        </p:spPr>
      </p:sp>
      <p:sp>
        <p:nvSpPr>
          <p:cNvPr id="18" name="Text 11"/>
          <p:cNvSpPr txBox="1"/>
          <p:nvPr/>
        </p:nvSpPr>
        <p:spPr>
          <a:xfrm>
            <a:off x="8141429" y="2844800"/>
            <a:ext cx="3412015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7" b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Churn by Region</a:t>
            </a:r>
            <a:endParaRPr lang="en-US" sz="1197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41429" y="3098800"/>
            <a:ext cx="3407759" cy="29718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506730" y="6273800"/>
            <a:ext cx="11148060" cy="330200"/>
          </a:xfrm>
          <a:prstGeom prst="roundRect">
            <a:avLst>
              <a:gd name="adj" fmla="val 85207"/>
            </a:avLst>
          </a:prstGeom>
          <a:solidFill>
            <a:srgbClr val="EDF6F9"/>
          </a:solidFill>
          <a:ln/>
        </p:spPr>
      </p:sp>
      <p:sp>
        <p:nvSpPr>
          <p:cNvPr id="21" name="Text 13"/>
          <p:cNvSpPr txBox="1"/>
          <p:nvPr/>
        </p:nvSpPr>
        <p:spPr>
          <a:xfrm>
            <a:off x="582740" y="6350000"/>
            <a:ext cx="1099604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8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🎯 </a:t>
            </a:r>
            <a:pPr algn="ctr" indent="0" marL="0">
              <a:buNone/>
            </a:pPr>
            <a:r>
              <a:rPr lang="en-US" sz="998" b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Key Insight:</a:t>
            </a:r>
            <a:pPr algn="ctr" indent="0" marL="0">
              <a:buNone/>
            </a:pPr>
            <a:r>
              <a:rPr lang="en-US" sz="998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 Churn is highest in the </a:t>
            </a:r>
            <a:pPr algn="ctr" indent="0" marL="0">
              <a:buNone/>
            </a:pPr>
            <a:r>
              <a:rPr lang="en-US" sz="998" b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Standard plan (4.96%)</a:t>
            </a:r>
            <a:pPr algn="ctr" indent="0" marL="0">
              <a:buNone/>
            </a:pPr>
            <a:r>
              <a:rPr lang="en-US" sz="998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, </a:t>
            </a:r>
            <a:pPr algn="ctr" indent="0" marL="0">
              <a:buNone/>
            </a:pPr>
            <a:r>
              <a:rPr lang="en-US" sz="998" b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SME segment (3.95%)</a:t>
            </a:r>
            <a:pPr algn="ctr" indent="0" marL="0">
              <a:buNone/>
            </a:pPr>
            <a:r>
              <a:rPr lang="en-US" sz="998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, and </a:t>
            </a:r>
            <a:pPr algn="ctr" indent="0" marL="0">
              <a:buNone/>
            </a:pPr>
            <a:r>
              <a:rPr lang="en-US" sz="998" b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Center region (3.61%)</a:t>
            </a:r>
            <a:pPr algn="ctr" indent="0" marL="0">
              <a:buNone/>
            </a:pPr>
            <a:r>
              <a:rPr lang="en-US" sz="998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.</a:t>
            </a:r>
            <a:endParaRPr lang="en-US" sz="99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6730" y="533400"/>
            <a:ext cx="405384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4133" y="406400"/>
            <a:ext cx="4610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006D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Factori Asociați cu Churn</a:t>
            </a:r>
            <a:endParaRPr lang="en-US" sz="2993" dirty="0"/>
          </a:p>
        </p:txBody>
      </p:sp>
      <p:sp>
        <p:nvSpPr>
          <p:cNvPr id="4" name="Text 1"/>
          <p:cNvSpPr txBox="1"/>
          <p:nvPr/>
        </p:nvSpPr>
        <p:spPr>
          <a:xfrm>
            <a:off x="1064133" y="838200"/>
            <a:ext cx="4610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006D7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Satisfacție, suport și comportament de plată</a:t>
            </a:r>
            <a:endParaRPr lang="en-US" sz="1496" dirty="0"/>
          </a:p>
        </p:txBody>
      </p:sp>
      <p:sp>
        <p:nvSpPr>
          <p:cNvPr id="5" name="Shape 2"/>
          <p:cNvSpPr/>
          <p:nvPr/>
        </p:nvSpPr>
        <p:spPr>
          <a:xfrm>
            <a:off x="506730" y="1270000"/>
            <a:ext cx="3614608" cy="1727200"/>
          </a:xfrm>
          <a:prstGeom prst="roundRect">
            <a:avLst>
              <a:gd name="adj" fmla="val 4671"/>
            </a:avLst>
          </a:prstGeom>
          <a:noFill/>
          <a:ln w="12668">
            <a:solidFill>
              <a:srgbClr val="006D7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19398" y="1282700"/>
            <a:ext cx="3589272" cy="457200"/>
          </a:xfrm>
          <a:prstGeom prst="rect">
            <a:avLst/>
          </a:prstGeom>
          <a:solidFill>
            <a:srgbClr val="EDF6F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578979" y="1384300"/>
            <a:ext cx="253365" cy="2540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908353" y="1409700"/>
            <a:ext cx="114073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7" b="1" dirty="0">
                <a:solidFill>
                  <a:srgbClr val="006D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Scor Satisfacție</a:t>
            </a:r>
            <a:endParaRPr lang="en-US" sz="1197" dirty="0"/>
          </a:p>
        </p:txBody>
      </p:sp>
      <p:sp>
        <p:nvSpPr>
          <p:cNvPr id="9" name="Shape 5"/>
          <p:cNvSpPr/>
          <p:nvPr/>
        </p:nvSpPr>
        <p:spPr>
          <a:xfrm>
            <a:off x="519398" y="1739900"/>
            <a:ext cx="1794636" cy="838200"/>
          </a:xfrm>
          <a:prstGeom prst="rect">
            <a:avLst/>
          </a:prstGeom>
          <a:solidFill>
            <a:srgbClr val="83C5BE">
              <a:alpha val="20000"/>
            </a:srgbClr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1083036" y="1892300"/>
            <a:ext cx="66726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98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Fără Churn</a:t>
            </a:r>
            <a:endParaRPr lang="en-US" sz="998" dirty="0"/>
          </a:p>
        </p:txBody>
      </p:sp>
      <p:sp>
        <p:nvSpPr>
          <p:cNvPr id="11" name="Text 7"/>
          <p:cNvSpPr txBox="1"/>
          <p:nvPr/>
        </p:nvSpPr>
        <p:spPr>
          <a:xfrm>
            <a:off x="1141924" y="2120900"/>
            <a:ext cx="5495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94" b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7.14</a:t>
            </a:r>
            <a:endParaRPr lang="en-US" sz="2394" dirty="0"/>
          </a:p>
        </p:txBody>
      </p:sp>
      <p:sp>
        <p:nvSpPr>
          <p:cNvPr id="12" name="Shape 8"/>
          <p:cNvSpPr/>
          <p:nvPr/>
        </p:nvSpPr>
        <p:spPr>
          <a:xfrm>
            <a:off x="2314034" y="1739900"/>
            <a:ext cx="1794636" cy="838200"/>
          </a:xfrm>
          <a:prstGeom prst="rect">
            <a:avLst/>
          </a:prstGeom>
          <a:solidFill>
            <a:srgbClr val="FFDDD2">
              <a:alpha val="30000"/>
            </a:srgbClr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2926366" y="1892300"/>
            <a:ext cx="56997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98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Cu Churn</a:t>
            </a:r>
            <a:endParaRPr lang="en-US" sz="998" dirty="0"/>
          </a:p>
        </p:txBody>
      </p:sp>
      <p:sp>
        <p:nvSpPr>
          <p:cNvPr id="14" name="Text 10"/>
          <p:cNvSpPr txBox="1"/>
          <p:nvPr/>
        </p:nvSpPr>
        <p:spPr>
          <a:xfrm>
            <a:off x="2873713" y="2120900"/>
            <a:ext cx="67527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94" b="1" dirty="0">
                <a:solidFill>
                  <a:srgbClr val="FFDDD2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5.98</a:t>
            </a:r>
            <a:endParaRPr lang="en-US" sz="2394" dirty="0"/>
          </a:p>
        </p:txBody>
      </p:sp>
      <p:sp>
        <p:nvSpPr>
          <p:cNvPr id="15" name="Shape 11"/>
          <p:cNvSpPr/>
          <p:nvPr/>
        </p:nvSpPr>
        <p:spPr>
          <a:xfrm>
            <a:off x="519398" y="2578100"/>
            <a:ext cx="3589272" cy="406400"/>
          </a:xfrm>
          <a:prstGeom prst="rect">
            <a:avLst/>
          </a:prstGeom>
          <a:solidFill>
            <a:srgbClr val="EDF6F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82205" y="2705100"/>
            <a:ext cx="152019" cy="1524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84897" y="2679700"/>
            <a:ext cx="10608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7" b="1" dirty="0">
                <a:solidFill>
                  <a:srgbClr val="FFDDD2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-1.16 Diferență</a:t>
            </a:r>
            <a:endParaRPr lang="en-US" sz="1197" dirty="0"/>
          </a:p>
        </p:txBody>
      </p:sp>
      <p:sp>
        <p:nvSpPr>
          <p:cNvPr id="18" name="Shape 13"/>
          <p:cNvSpPr/>
          <p:nvPr/>
        </p:nvSpPr>
        <p:spPr>
          <a:xfrm>
            <a:off x="4273357" y="1270000"/>
            <a:ext cx="3614707" cy="1727200"/>
          </a:xfrm>
          <a:prstGeom prst="roundRect">
            <a:avLst>
              <a:gd name="adj" fmla="val 4671"/>
            </a:avLst>
          </a:prstGeom>
          <a:noFill/>
          <a:ln w="12668">
            <a:solidFill>
              <a:srgbClr val="006D7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286025" y="1282700"/>
            <a:ext cx="3589370" cy="457200"/>
          </a:xfrm>
          <a:prstGeom prst="rect">
            <a:avLst/>
          </a:prstGeom>
          <a:solidFill>
            <a:srgbClr val="EDF6F9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224762" y="1384300"/>
            <a:ext cx="253365" cy="2540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54137" y="1409700"/>
            <a:ext cx="138242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7" b="1" dirty="0">
                <a:solidFill>
                  <a:srgbClr val="006D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Tichete Suport (6L)</a:t>
            </a:r>
            <a:endParaRPr lang="en-US" sz="1197" dirty="0"/>
          </a:p>
        </p:txBody>
      </p:sp>
      <p:sp>
        <p:nvSpPr>
          <p:cNvPr id="22" name="Shape 16"/>
          <p:cNvSpPr/>
          <p:nvPr/>
        </p:nvSpPr>
        <p:spPr>
          <a:xfrm>
            <a:off x="4286025" y="1739900"/>
            <a:ext cx="1794636" cy="838200"/>
          </a:xfrm>
          <a:prstGeom prst="rect">
            <a:avLst/>
          </a:prstGeom>
          <a:solidFill>
            <a:srgbClr val="83C5BE">
              <a:alpha val="20000"/>
            </a:srgbClr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4849663" y="1892300"/>
            <a:ext cx="66726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98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Fără Churn</a:t>
            </a:r>
            <a:endParaRPr lang="en-US" sz="998" dirty="0"/>
          </a:p>
        </p:txBody>
      </p:sp>
      <p:sp>
        <p:nvSpPr>
          <p:cNvPr id="24" name="Text 18"/>
          <p:cNvSpPr txBox="1"/>
          <p:nvPr/>
        </p:nvSpPr>
        <p:spPr>
          <a:xfrm>
            <a:off x="4836203" y="2120900"/>
            <a:ext cx="6942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94" b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2.00</a:t>
            </a:r>
            <a:endParaRPr lang="en-US" sz="2394" dirty="0"/>
          </a:p>
        </p:txBody>
      </p:sp>
      <p:sp>
        <p:nvSpPr>
          <p:cNvPr id="25" name="Shape 19"/>
          <p:cNvSpPr/>
          <p:nvPr/>
        </p:nvSpPr>
        <p:spPr>
          <a:xfrm>
            <a:off x="6080661" y="1739900"/>
            <a:ext cx="1794735" cy="838200"/>
          </a:xfrm>
          <a:prstGeom prst="rect">
            <a:avLst/>
          </a:prstGeom>
          <a:solidFill>
            <a:srgbClr val="FFDDD2">
              <a:alpha val="30000"/>
            </a:srgbClr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6692993" y="1892300"/>
            <a:ext cx="56997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98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Cu Churn</a:t>
            </a:r>
            <a:endParaRPr lang="en-US" sz="998" dirty="0"/>
          </a:p>
        </p:txBody>
      </p:sp>
      <p:sp>
        <p:nvSpPr>
          <p:cNvPr id="27" name="Text 21"/>
          <p:cNvSpPr txBox="1"/>
          <p:nvPr/>
        </p:nvSpPr>
        <p:spPr>
          <a:xfrm>
            <a:off x="6637866" y="2120900"/>
            <a:ext cx="68022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94" b="1" dirty="0">
                <a:solidFill>
                  <a:srgbClr val="FFDDD2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2.88</a:t>
            </a:r>
            <a:endParaRPr lang="en-US" sz="2394" dirty="0"/>
          </a:p>
        </p:txBody>
      </p:sp>
      <p:sp>
        <p:nvSpPr>
          <p:cNvPr id="28" name="Shape 22"/>
          <p:cNvSpPr/>
          <p:nvPr/>
        </p:nvSpPr>
        <p:spPr>
          <a:xfrm>
            <a:off x="4286025" y="2578100"/>
            <a:ext cx="3589370" cy="406400"/>
          </a:xfrm>
          <a:prstGeom prst="rect">
            <a:avLst/>
          </a:prstGeom>
          <a:solidFill>
            <a:srgbClr val="EDF6F9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395091" y="2705100"/>
            <a:ext cx="152019" cy="1524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597783" y="2679700"/>
            <a:ext cx="116844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7" b="1" dirty="0">
                <a:solidFill>
                  <a:srgbClr val="FFDDD2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+0.88 Diferență</a:t>
            </a:r>
            <a:endParaRPr lang="en-US" sz="1197" dirty="0"/>
          </a:p>
        </p:txBody>
      </p:sp>
      <p:sp>
        <p:nvSpPr>
          <p:cNvPr id="31" name="Shape 24"/>
          <p:cNvSpPr/>
          <p:nvPr/>
        </p:nvSpPr>
        <p:spPr>
          <a:xfrm>
            <a:off x="8040083" y="1270000"/>
            <a:ext cx="3614707" cy="1727200"/>
          </a:xfrm>
          <a:prstGeom prst="roundRect">
            <a:avLst>
              <a:gd name="adj" fmla="val 4671"/>
            </a:avLst>
          </a:prstGeom>
          <a:noFill/>
          <a:ln w="12668">
            <a:solidFill>
              <a:srgbClr val="006D77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052751" y="1282700"/>
            <a:ext cx="3589370" cy="457200"/>
          </a:xfrm>
          <a:prstGeom prst="rect">
            <a:avLst/>
          </a:prstGeom>
          <a:solidFill>
            <a:srgbClr val="EDF6F9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006928" y="1384300"/>
            <a:ext cx="253365" cy="2540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336302" y="1409700"/>
            <a:ext cx="135154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7" b="1" dirty="0">
                <a:solidFill>
                  <a:srgbClr val="006D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Plăți Întârziate (6L)</a:t>
            </a:r>
            <a:endParaRPr lang="en-US" sz="1197" dirty="0"/>
          </a:p>
        </p:txBody>
      </p:sp>
      <p:sp>
        <p:nvSpPr>
          <p:cNvPr id="35" name="Shape 27"/>
          <p:cNvSpPr/>
          <p:nvPr/>
        </p:nvSpPr>
        <p:spPr>
          <a:xfrm>
            <a:off x="8052751" y="1739900"/>
            <a:ext cx="1794636" cy="838200"/>
          </a:xfrm>
          <a:prstGeom prst="rect">
            <a:avLst/>
          </a:prstGeom>
          <a:solidFill>
            <a:srgbClr val="83C5BE">
              <a:alpha val="20000"/>
            </a:srgbClr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8616389" y="1892300"/>
            <a:ext cx="66726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98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Fără Churn</a:t>
            </a:r>
            <a:endParaRPr lang="en-US" sz="998" dirty="0"/>
          </a:p>
        </p:txBody>
      </p:sp>
      <p:sp>
        <p:nvSpPr>
          <p:cNvPr id="37" name="Text 29"/>
          <p:cNvSpPr txBox="1"/>
          <p:nvPr/>
        </p:nvSpPr>
        <p:spPr>
          <a:xfrm>
            <a:off x="8632819" y="2120900"/>
            <a:ext cx="6345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94" b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1.04</a:t>
            </a:r>
            <a:endParaRPr lang="en-US" sz="2394" dirty="0"/>
          </a:p>
        </p:txBody>
      </p:sp>
      <p:sp>
        <p:nvSpPr>
          <p:cNvPr id="38" name="Shape 30"/>
          <p:cNvSpPr/>
          <p:nvPr/>
        </p:nvSpPr>
        <p:spPr>
          <a:xfrm>
            <a:off x="9847387" y="1739900"/>
            <a:ext cx="1794735" cy="838200"/>
          </a:xfrm>
          <a:prstGeom prst="rect">
            <a:avLst/>
          </a:prstGeom>
          <a:solidFill>
            <a:srgbClr val="FFDDD2">
              <a:alpha val="30000"/>
            </a:srgbClr>
          </a:solidFill>
          <a:ln/>
        </p:spPr>
      </p:sp>
      <p:sp>
        <p:nvSpPr>
          <p:cNvPr id="39" name="Text 31"/>
          <p:cNvSpPr txBox="1"/>
          <p:nvPr/>
        </p:nvSpPr>
        <p:spPr>
          <a:xfrm>
            <a:off x="10459719" y="1892300"/>
            <a:ext cx="56997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98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Cu Churn</a:t>
            </a:r>
            <a:endParaRPr lang="en-US" sz="998" dirty="0"/>
          </a:p>
        </p:txBody>
      </p:sp>
      <p:sp>
        <p:nvSpPr>
          <p:cNvPr id="40" name="Text 32"/>
          <p:cNvSpPr txBox="1"/>
          <p:nvPr/>
        </p:nvSpPr>
        <p:spPr>
          <a:xfrm>
            <a:off x="10434778" y="2120900"/>
            <a:ext cx="61985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94" b="1" dirty="0">
                <a:solidFill>
                  <a:srgbClr val="FFDDD2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1.38</a:t>
            </a:r>
            <a:endParaRPr lang="en-US" sz="2394" dirty="0"/>
          </a:p>
        </p:txBody>
      </p:sp>
      <p:sp>
        <p:nvSpPr>
          <p:cNvPr id="41" name="Shape 33"/>
          <p:cNvSpPr/>
          <p:nvPr/>
        </p:nvSpPr>
        <p:spPr>
          <a:xfrm>
            <a:off x="8052751" y="2578100"/>
            <a:ext cx="3589370" cy="406400"/>
          </a:xfrm>
          <a:prstGeom prst="rect">
            <a:avLst/>
          </a:prstGeom>
          <a:solidFill>
            <a:srgbClr val="EDF6F9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159838" y="2705100"/>
            <a:ext cx="152019" cy="152400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9362530" y="2679700"/>
            <a:ext cx="117240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7" b="1" dirty="0">
                <a:solidFill>
                  <a:srgbClr val="FFDDD2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+0.34 Diferență</a:t>
            </a:r>
            <a:endParaRPr lang="en-US" sz="1197" dirty="0"/>
          </a:p>
        </p:txBody>
      </p:sp>
      <p:sp>
        <p:nvSpPr>
          <p:cNvPr id="44" name="Text 35"/>
          <p:cNvSpPr txBox="1"/>
          <p:nvPr/>
        </p:nvSpPr>
        <p:spPr>
          <a:xfrm>
            <a:off x="506730" y="3200400"/>
            <a:ext cx="111480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5" b="1" dirty="0">
                <a:solidFill>
                  <a:srgbClr val="006D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Rata de Churn pe Niveluri de Satisfacție</a:t>
            </a:r>
            <a:endParaRPr lang="en-US" sz="1795" dirty="0"/>
          </a:p>
        </p:txBody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06730" y="3556000"/>
            <a:ext cx="11148060" cy="2082800"/>
          </a:xfrm>
          <a:prstGeom prst="rect">
            <a:avLst/>
          </a:prstGeom>
        </p:spPr>
      </p:pic>
      <p:sp>
        <p:nvSpPr>
          <p:cNvPr id="46" name="Shape 36"/>
          <p:cNvSpPr/>
          <p:nvPr/>
        </p:nvSpPr>
        <p:spPr>
          <a:xfrm>
            <a:off x="506730" y="5842000"/>
            <a:ext cx="11148060" cy="609600"/>
          </a:xfrm>
          <a:prstGeom prst="roundRect">
            <a:avLst>
              <a:gd name="adj" fmla="val 37500"/>
            </a:avLst>
          </a:prstGeom>
          <a:solidFill>
            <a:srgbClr val="EDF6F9"/>
          </a:solidFill>
          <a:ln/>
        </p:spPr>
      </p:sp>
      <p:sp>
        <p:nvSpPr>
          <p:cNvPr id="47" name="Text 37"/>
          <p:cNvSpPr txBox="1"/>
          <p:nvPr/>
        </p:nvSpPr>
        <p:spPr>
          <a:xfrm>
            <a:off x="608076" y="5943600"/>
            <a:ext cx="10945368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📉 Clienții cu churn au satisfacție semnificativ mai scăzută </a:t>
            </a:r>
            <a:pPr algn="l" indent="0" marL="0">
              <a:buNone/>
            </a:pPr>
            <a:r>
              <a:rPr lang="en-US" sz="1197" b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(5.98 vs 7.14)</a:t>
            </a:r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, mai multe tichete suport </a:t>
            </a:r>
            <a:pPr algn="l" indent="0" marL="0">
              <a:buNone/>
            </a:pPr>
            <a:r>
              <a:rPr lang="en-US" sz="1197" b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(+44%)</a:t>
            </a:r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 și mai multe plăți întârziate </a:t>
            </a:r>
            <a:pPr algn="l" indent="0" marL="0">
              <a:buNone/>
            </a:pPr>
            <a:r>
              <a:rPr lang="en-US" sz="1197" b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(+33%)</a:t>
            </a:r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. Churn-ul crește dramatic la satisfacție scăzută.</a:t>
            </a:r>
            <a:endParaRPr lang="en-US" sz="119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6730" y="533400"/>
            <a:ext cx="405384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4133" y="406400"/>
            <a:ext cx="40759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006D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Scor de Risc de Churn</a:t>
            </a:r>
            <a:endParaRPr lang="en-US" sz="2993" dirty="0"/>
          </a:p>
        </p:txBody>
      </p:sp>
      <p:sp>
        <p:nvSpPr>
          <p:cNvPr id="4" name="Text 1"/>
          <p:cNvSpPr txBox="1"/>
          <p:nvPr/>
        </p:nvSpPr>
        <p:spPr>
          <a:xfrm>
            <a:off x="1064133" y="838200"/>
            <a:ext cx="4075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006D7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Model predictiv simplu bazat pe 5 factori cheie</a:t>
            </a:r>
            <a:endParaRPr lang="en-US" sz="1496" dirty="0"/>
          </a:p>
        </p:txBody>
      </p:sp>
      <p:sp>
        <p:nvSpPr>
          <p:cNvPr id="5" name="Shape 2"/>
          <p:cNvSpPr/>
          <p:nvPr/>
        </p:nvSpPr>
        <p:spPr>
          <a:xfrm>
            <a:off x="506730" y="1270000"/>
            <a:ext cx="4378068" cy="2438400"/>
          </a:xfrm>
          <a:prstGeom prst="roundRect">
            <a:avLst>
              <a:gd name="adj" fmla="val 2344"/>
            </a:avLst>
          </a:prstGeom>
          <a:solidFill>
            <a:srgbClr val="EDF6F9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749" y="1422400"/>
            <a:ext cx="228029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62787" y="1422400"/>
            <a:ext cx="21012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006D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Metodologie RiskScore</a:t>
            </a:r>
            <a:endParaRPr lang="en-US" sz="1496" dirty="0"/>
          </a:p>
        </p:txBody>
      </p:sp>
      <p:sp>
        <p:nvSpPr>
          <p:cNvPr id="8" name="Text 4"/>
          <p:cNvSpPr txBox="1"/>
          <p:nvPr/>
        </p:nvSpPr>
        <p:spPr>
          <a:xfrm>
            <a:off x="658749" y="1752600"/>
            <a:ext cx="407403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Punctaj calculat pe baza:</a:t>
            </a:r>
            <a:endParaRPr lang="en-US" sz="1197" dirty="0"/>
          </a:p>
        </p:txBody>
      </p:sp>
      <p:sp>
        <p:nvSpPr>
          <p:cNvPr id="9" name="Text 5"/>
          <p:cNvSpPr txBox="1"/>
          <p:nvPr/>
        </p:nvSpPr>
        <p:spPr>
          <a:xfrm>
            <a:off x="658749" y="2032000"/>
            <a:ext cx="407403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✓</a:t>
            </a:r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Satisfacție &lt; 6 (1 punct)</a:t>
            </a:r>
            <a:endParaRPr lang="en-US" sz="1197" dirty="0"/>
          </a:p>
        </p:txBody>
      </p:sp>
      <p:sp>
        <p:nvSpPr>
          <p:cNvPr id="10" name="Text 6"/>
          <p:cNvSpPr txBox="1"/>
          <p:nvPr/>
        </p:nvSpPr>
        <p:spPr>
          <a:xfrm>
            <a:off x="658749" y="2286000"/>
            <a:ext cx="407403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✓</a:t>
            </a:r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Tichete suport &gt; 3 (1 punct)</a:t>
            </a:r>
            <a:endParaRPr lang="en-US" sz="1197" dirty="0"/>
          </a:p>
        </p:txBody>
      </p:sp>
      <p:sp>
        <p:nvSpPr>
          <p:cNvPr id="11" name="Text 7"/>
          <p:cNvSpPr txBox="1"/>
          <p:nvPr/>
        </p:nvSpPr>
        <p:spPr>
          <a:xfrm>
            <a:off x="658749" y="2540000"/>
            <a:ext cx="407403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✓</a:t>
            </a:r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Plăți întârziate ≥ 2 (1 punct)</a:t>
            </a:r>
            <a:endParaRPr lang="en-US" sz="1197" dirty="0"/>
          </a:p>
        </p:txBody>
      </p:sp>
      <p:sp>
        <p:nvSpPr>
          <p:cNvPr id="12" name="Text 8"/>
          <p:cNvSpPr txBox="1"/>
          <p:nvPr/>
        </p:nvSpPr>
        <p:spPr>
          <a:xfrm>
            <a:off x="658749" y="2794000"/>
            <a:ext cx="407403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✓</a:t>
            </a:r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Vechime &lt; 12 luni (1 punct)</a:t>
            </a:r>
            <a:endParaRPr lang="en-US" sz="1197" dirty="0"/>
          </a:p>
        </p:txBody>
      </p:sp>
      <p:sp>
        <p:nvSpPr>
          <p:cNvPr id="13" name="Text 9"/>
          <p:cNvSpPr txBox="1"/>
          <p:nvPr/>
        </p:nvSpPr>
        <p:spPr>
          <a:xfrm>
            <a:off x="658749" y="3048000"/>
            <a:ext cx="407403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✓</a:t>
            </a:r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Fără Autopay (1 punct)</a:t>
            </a:r>
            <a:endParaRPr lang="en-US" sz="1197" dirty="0"/>
          </a:p>
        </p:txBody>
      </p:sp>
      <p:sp>
        <p:nvSpPr>
          <p:cNvPr id="14" name="Text 10"/>
          <p:cNvSpPr txBox="1"/>
          <p:nvPr/>
        </p:nvSpPr>
        <p:spPr>
          <a:xfrm>
            <a:off x="658749" y="3352800"/>
            <a:ext cx="407403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7" b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Scor total: 0-5 puncte</a:t>
            </a:r>
            <a:endParaRPr lang="en-US" sz="1197" dirty="0"/>
          </a:p>
        </p:txBody>
      </p:sp>
      <p:sp>
        <p:nvSpPr>
          <p:cNvPr id="15" name="Text 11"/>
          <p:cNvSpPr txBox="1"/>
          <p:nvPr/>
        </p:nvSpPr>
        <p:spPr>
          <a:xfrm>
            <a:off x="5087490" y="1270000"/>
            <a:ext cx="6567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5" b="1" dirty="0">
                <a:solidFill>
                  <a:srgbClr val="006D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Rata de Churn pe Categorie de Risc</a:t>
            </a:r>
            <a:endParaRPr lang="en-US" sz="1795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87490" y="1625600"/>
            <a:ext cx="6562154" cy="39878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06730" y="5816600"/>
            <a:ext cx="11148060" cy="635000"/>
          </a:xfrm>
          <a:prstGeom prst="roundRect">
            <a:avLst>
              <a:gd name="adj" fmla="val 34560"/>
            </a:avLst>
          </a:prstGeom>
          <a:solidFill>
            <a:srgbClr val="EDF6F9"/>
          </a:solidFill>
          <a:ln w="12668">
            <a:solidFill>
              <a:srgbClr val="006D77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844" r="844" t="0" b="0"/>
          <a:stretch/>
        </p:blipFill>
        <p:spPr>
          <a:xfrm>
            <a:off x="620744" y="6032500"/>
            <a:ext cx="155681" cy="2032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77771" y="5930900"/>
            <a:ext cx="10663005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🎯 Scorul de risc separă eficient clienții: categoria High prezintă o rată de churn de </a:t>
            </a:r>
            <a:pPr algn="l" indent="0" marL="0">
              <a:buNone/>
            </a:pPr>
            <a:r>
              <a:rPr lang="en-US" sz="1197" b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37.5%</a:t>
            </a:r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 (</a:t>
            </a:r>
            <a:pPr algn="l" indent="0" marL="0">
              <a:buNone/>
            </a:pPr>
            <a:r>
              <a:rPr lang="en-US" sz="1197" b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49x</a:t>
            </a:r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 mai mare decât Low), identificând clar </a:t>
            </a:r>
            <a:pPr algn="l" indent="0" marL="0">
              <a:buNone/>
            </a:pPr>
            <a:r>
              <a:rPr lang="en-US" sz="1197" b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16 clienți</a:t>
            </a:r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 cu risc maxim care necesită intervenție imediată.</a:t>
            </a:r>
            <a:endParaRPr lang="en-US" sz="119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6730" y="419100"/>
            <a:ext cx="380048" cy="381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38797" y="304800"/>
            <a:ext cx="437282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006D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Strategie de Retenție</a:t>
            </a:r>
            <a:endParaRPr lang="en-US" sz="2993" dirty="0"/>
          </a:p>
        </p:txBody>
      </p:sp>
      <p:sp>
        <p:nvSpPr>
          <p:cNvPr id="4" name="Text 1"/>
          <p:cNvSpPr txBox="1"/>
          <p:nvPr/>
        </p:nvSpPr>
        <p:spPr>
          <a:xfrm>
            <a:off x="1038797" y="685800"/>
            <a:ext cx="43728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006D7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Selecția clienților High Risk pentru oferte de retenție</a:t>
            </a:r>
            <a:endParaRPr lang="en-US" sz="1496" dirty="0"/>
          </a:p>
        </p:txBody>
      </p:sp>
      <p:sp>
        <p:nvSpPr>
          <p:cNvPr id="5" name="Shape 2"/>
          <p:cNvSpPr/>
          <p:nvPr/>
        </p:nvSpPr>
        <p:spPr>
          <a:xfrm>
            <a:off x="506730" y="1016000"/>
            <a:ext cx="2673001" cy="1397000"/>
          </a:xfrm>
          <a:prstGeom prst="roundRect">
            <a:avLst>
              <a:gd name="adj" fmla="val 7140"/>
            </a:avLst>
          </a:prstGeom>
          <a:solidFill>
            <a:srgbClr val="EDF6F9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91211" y="1117600"/>
            <a:ext cx="304038" cy="3048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96793" y="1473200"/>
            <a:ext cx="4928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91" b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16</a:t>
            </a:r>
            <a:endParaRPr lang="en-US" sz="3591" dirty="0"/>
          </a:p>
        </p:txBody>
      </p:sp>
      <p:sp>
        <p:nvSpPr>
          <p:cNvPr id="8" name="Text 4"/>
          <p:cNvSpPr txBox="1"/>
          <p:nvPr/>
        </p:nvSpPr>
        <p:spPr>
          <a:xfrm>
            <a:off x="1238816" y="1930400"/>
            <a:ext cx="120872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7" b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Clienți High Risk</a:t>
            </a:r>
            <a:endParaRPr lang="en-US" sz="1197" dirty="0"/>
          </a:p>
        </p:txBody>
      </p:sp>
      <p:sp>
        <p:nvSpPr>
          <p:cNvPr id="9" name="Text 5"/>
          <p:cNvSpPr txBox="1"/>
          <p:nvPr/>
        </p:nvSpPr>
        <p:spPr>
          <a:xfrm>
            <a:off x="1529790" y="2133600"/>
            <a:ext cx="62688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8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Identificați</a:t>
            </a:r>
            <a:endParaRPr lang="en-US" sz="998" dirty="0"/>
          </a:p>
        </p:txBody>
      </p:sp>
      <p:sp>
        <p:nvSpPr>
          <p:cNvPr id="10" name="Shape 6"/>
          <p:cNvSpPr/>
          <p:nvPr/>
        </p:nvSpPr>
        <p:spPr>
          <a:xfrm>
            <a:off x="3331750" y="1016000"/>
            <a:ext cx="2673001" cy="1397000"/>
          </a:xfrm>
          <a:prstGeom prst="roundRect">
            <a:avLst>
              <a:gd name="adj" fmla="val 7140"/>
            </a:avLst>
          </a:prstGeom>
          <a:solidFill>
            <a:srgbClr val="EDF6F9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16231" y="1117600"/>
            <a:ext cx="304038" cy="3048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421813" y="1473200"/>
            <a:ext cx="4928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91" b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16</a:t>
            </a:r>
            <a:endParaRPr lang="en-US" sz="3591" dirty="0"/>
          </a:p>
        </p:txBody>
      </p:sp>
      <p:sp>
        <p:nvSpPr>
          <p:cNvPr id="13" name="Text 8"/>
          <p:cNvSpPr txBox="1"/>
          <p:nvPr/>
        </p:nvSpPr>
        <p:spPr>
          <a:xfrm>
            <a:off x="4085313" y="1930400"/>
            <a:ext cx="116577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7" b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Clienți Selectați</a:t>
            </a:r>
            <a:endParaRPr lang="en-US" sz="1197" dirty="0"/>
          </a:p>
        </p:txBody>
      </p:sp>
      <p:sp>
        <p:nvSpPr>
          <p:cNvPr id="14" name="Text 9"/>
          <p:cNvSpPr txBox="1"/>
          <p:nvPr/>
        </p:nvSpPr>
        <p:spPr>
          <a:xfrm>
            <a:off x="4046120" y="2133600"/>
            <a:ext cx="124426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8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(100% din High Risk)</a:t>
            </a:r>
            <a:endParaRPr lang="en-US" sz="998" dirty="0"/>
          </a:p>
        </p:txBody>
      </p:sp>
      <p:sp>
        <p:nvSpPr>
          <p:cNvPr id="15" name="Shape 10"/>
          <p:cNvSpPr/>
          <p:nvPr/>
        </p:nvSpPr>
        <p:spPr>
          <a:xfrm>
            <a:off x="6156770" y="1016000"/>
            <a:ext cx="2673001" cy="1397000"/>
          </a:xfrm>
          <a:prstGeom prst="roundRect">
            <a:avLst>
              <a:gd name="adj" fmla="val 7140"/>
            </a:avLst>
          </a:prstGeom>
          <a:solidFill>
            <a:srgbClr val="EDF6F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341251" y="1193800"/>
            <a:ext cx="304038" cy="3048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896674" y="1549400"/>
            <a:ext cx="11931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94" b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541 EUR</a:t>
            </a:r>
            <a:endParaRPr lang="en-US" sz="2394" dirty="0"/>
          </a:p>
        </p:txBody>
      </p:sp>
      <p:sp>
        <p:nvSpPr>
          <p:cNvPr id="18" name="Text 12"/>
          <p:cNvSpPr txBox="1"/>
          <p:nvPr/>
        </p:nvSpPr>
        <p:spPr>
          <a:xfrm>
            <a:off x="6995744" y="1854200"/>
            <a:ext cx="99505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7" b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Buget Utilizat</a:t>
            </a:r>
            <a:endParaRPr lang="en-US" sz="1197" dirty="0"/>
          </a:p>
        </p:txBody>
      </p:sp>
      <p:sp>
        <p:nvSpPr>
          <p:cNvPr id="19" name="Text 13"/>
          <p:cNvSpPr txBox="1"/>
          <p:nvPr/>
        </p:nvSpPr>
        <p:spPr>
          <a:xfrm>
            <a:off x="6874703" y="2057400"/>
            <a:ext cx="123713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8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din 3,000 EUR (18%)</a:t>
            </a:r>
            <a:endParaRPr lang="en-US" sz="998" dirty="0"/>
          </a:p>
        </p:txBody>
      </p:sp>
      <p:sp>
        <p:nvSpPr>
          <p:cNvPr id="20" name="Shape 14"/>
          <p:cNvSpPr/>
          <p:nvPr/>
        </p:nvSpPr>
        <p:spPr>
          <a:xfrm>
            <a:off x="8981789" y="1016000"/>
            <a:ext cx="2673001" cy="1397000"/>
          </a:xfrm>
          <a:prstGeom prst="roundRect">
            <a:avLst>
              <a:gd name="adj" fmla="val 7140"/>
            </a:avLst>
          </a:prstGeom>
          <a:solidFill>
            <a:srgbClr val="EDF6F9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166271" y="1193800"/>
            <a:ext cx="304038" cy="3048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536718" y="1549400"/>
            <a:ext cx="15630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94" b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2,066 EUR</a:t>
            </a:r>
            <a:endParaRPr lang="en-US" sz="2394" dirty="0"/>
          </a:p>
        </p:txBody>
      </p:sp>
      <p:sp>
        <p:nvSpPr>
          <p:cNvPr id="23" name="Text 16"/>
          <p:cNvSpPr txBox="1"/>
          <p:nvPr/>
        </p:nvSpPr>
        <p:spPr>
          <a:xfrm>
            <a:off x="9765835" y="1854200"/>
            <a:ext cx="110481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7" b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Marjă Estimată</a:t>
            </a:r>
            <a:endParaRPr lang="en-US" sz="1197" dirty="0"/>
          </a:p>
        </p:txBody>
      </p:sp>
      <p:sp>
        <p:nvSpPr>
          <p:cNvPr id="24" name="Text 17"/>
          <p:cNvSpPr txBox="1"/>
          <p:nvPr/>
        </p:nvSpPr>
        <p:spPr>
          <a:xfrm>
            <a:off x="9976445" y="2057400"/>
            <a:ext cx="68369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8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Recuperată</a:t>
            </a:r>
            <a:endParaRPr lang="en-US" sz="998" dirty="0"/>
          </a:p>
        </p:txBody>
      </p:sp>
      <p:sp>
        <p:nvSpPr>
          <p:cNvPr id="25" name="Text 18"/>
          <p:cNvSpPr txBox="1"/>
          <p:nvPr/>
        </p:nvSpPr>
        <p:spPr>
          <a:xfrm>
            <a:off x="506730" y="2514600"/>
            <a:ext cx="54980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006D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 5 Clienți Selectați (din 16)</a:t>
            </a:r>
            <a:endParaRPr lang="en-US" sz="1496" dirty="0"/>
          </a:p>
        </p:txBody>
      </p:sp>
      <p:sp>
        <p:nvSpPr>
          <p:cNvPr id="26" name="Shape 19"/>
          <p:cNvSpPr/>
          <p:nvPr/>
        </p:nvSpPr>
        <p:spPr>
          <a:xfrm>
            <a:off x="6156770" y="2514600"/>
            <a:ext cx="5498021" cy="3606800"/>
          </a:xfrm>
          <a:prstGeom prst="roundRect">
            <a:avLst>
              <a:gd name="adj" fmla="val 1071"/>
            </a:avLst>
          </a:prstGeom>
          <a:solidFill>
            <a:srgbClr val="EDF6F9"/>
          </a:solidFill>
          <a:ln w="25337">
            <a:solidFill>
              <a:srgbClr val="006D77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7549881" y="3619500"/>
            <a:ext cx="271179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5" b="1" dirty="0">
                <a:solidFill>
                  <a:srgbClr val="006D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Rentabilitatea Campaniei</a:t>
            </a:r>
            <a:endParaRPr lang="en-US" sz="1795" dirty="0"/>
          </a:p>
        </p:txBody>
      </p:sp>
      <p:sp>
        <p:nvSpPr>
          <p:cNvPr id="28" name="Shape 21"/>
          <p:cNvSpPr/>
          <p:nvPr/>
        </p:nvSpPr>
        <p:spPr>
          <a:xfrm>
            <a:off x="8070863" y="3975100"/>
            <a:ext cx="1669735" cy="711200"/>
          </a:xfrm>
          <a:prstGeom prst="roundRect">
            <a:avLst>
              <a:gd name="adj" fmla="val 22956888"/>
            </a:avLst>
          </a:prstGeom>
          <a:solidFill>
            <a:srgbClr val="FFFFFF"/>
          </a:solidFill>
          <a:ln w="25337">
            <a:solidFill>
              <a:srgbClr val="83C5BE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97545" y="4165600"/>
            <a:ext cx="329375" cy="33020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8628266" y="4102100"/>
            <a:ext cx="98564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91" b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3.8x</a:t>
            </a:r>
            <a:endParaRPr lang="en-US" sz="3591" dirty="0"/>
          </a:p>
        </p:txBody>
      </p:sp>
      <p:sp>
        <p:nvSpPr>
          <p:cNvPr id="31" name="Text 23"/>
          <p:cNvSpPr txBox="1"/>
          <p:nvPr/>
        </p:nvSpPr>
        <p:spPr>
          <a:xfrm>
            <a:off x="7958531" y="4787900"/>
            <a:ext cx="18943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83C5BE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ROI Mediu per Client</a:t>
            </a:r>
            <a:endParaRPr lang="en-US" sz="1496" dirty="0"/>
          </a:p>
        </p:txBody>
      </p:sp>
      <p:sp>
        <p:nvSpPr>
          <p:cNvPr id="32" name="Shape 24"/>
          <p:cNvSpPr/>
          <p:nvPr/>
        </p:nvSpPr>
        <p:spPr>
          <a:xfrm>
            <a:off x="506730" y="6223000"/>
            <a:ext cx="11148060" cy="330200"/>
          </a:xfrm>
          <a:prstGeom prst="roundRect">
            <a:avLst>
              <a:gd name="adj" fmla="val 127811"/>
            </a:avLst>
          </a:prstGeom>
          <a:solidFill>
            <a:srgbClr val="EDF6F9"/>
          </a:solidFill>
          <a:ln/>
        </p:spPr>
      </p:sp>
      <p:sp>
        <p:nvSpPr>
          <p:cNvPr id="33" name="Text 25"/>
          <p:cNvSpPr txBox="1"/>
          <p:nvPr/>
        </p:nvSpPr>
        <p:spPr>
          <a:xfrm>
            <a:off x="582740" y="6299200"/>
            <a:ext cx="1099604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8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✅ </a:t>
            </a:r>
            <a:pPr algn="ctr" indent="0" marL="0">
              <a:buNone/>
            </a:pPr>
            <a:r>
              <a:rPr lang="en-US" sz="998" b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Decizie:</a:t>
            </a:r>
            <a:pPr algn="ctr" indent="0" marL="0">
              <a:buNone/>
            </a:pPr>
            <a:r>
              <a:rPr lang="en-US" sz="998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 Toți cei 16 clienți High Risk primesc oferte. Investiția de </a:t>
            </a:r>
            <a:pPr algn="ctr" indent="0" marL="0">
              <a:buNone/>
            </a:pPr>
            <a:r>
              <a:rPr lang="en-US" sz="998" b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541 EUR</a:t>
            </a:r>
            <a:pPr algn="ctr" indent="0" marL="0">
              <a:buNone/>
            </a:pPr>
            <a:r>
              <a:rPr lang="en-US" sz="998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 generează o marjă estimată de </a:t>
            </a:r>
            <a:pPr algn="ctr" indent="0" marL="0">
              <a:buNone/>
            </a:pPr>
            <a:r>
              <a:rPr lang="en-US" sz="998" b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2,066 EUR</a:t>
            </a:r>
            <a:pPr algn="ctr" indent="0" marL="0">
              <a:buNone/>
            </a:pPr>
            <a:r>
              <a:rPr lang="en-US" sz="998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, cu un ROI de </a:t>
            </a:r>
            <a:pPr algn="ctr" indent="0" marL="0">
              <a:buNone/>
            </a:pPr>
            <a:r>
              <a:rPr lang="en-US" sz="998" b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3.8x</a:t>
            </a:r>
            <a:pPr algn="ctr" indent="0" marL="0">
              <a:buNone/>
            </a:pPr>
            <a:r>
              <a:rPr lang="en-US" sz="998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.</a:t>
            </a:r>
            <a:endParaRPr lang="en-US" sz="99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6730" y="431800"/>
            <a:ext cx="405384" cy="40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4133" y="304800"/>
            <a:ext cx="458254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006D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Concluzii &amp; Recomandări</a:t>
            </a:r>
            <a:endParaRPr lang="en-US" sz="2993" dirty="0"/>
          </a:p>
        </p:txBody>
      </p:sp>
      <p:sp>
        <p:nvSpPr>
          <p:cNvPr id="4" name="Text 1"/>
          <p:cNvSpPr txBox="1"/>
          <p:nvPr/>
        </p:nvSpPr>
        <p:spPr>
          <a:xfrm>
            <a:off x="1064133" y="736600"/>
            <a:ext cx="45825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006D77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Direcții strategice pentru managementul churn-ului</a:t>
            </a:r>
            <a:endParaRPr lang="en-US" sz="1496" dirty="0"/>
          </a:p>
        </p:txBody>
      </p:sp>
      <p:sp>
        <p:nvSpPr>
          <p:cNvPr id="5" name="Shape 2"/>
          <p:cNvSpPr/>
          <p:nvPr/>
        </p:nvSpPr>
        <p:spPr>
          <a:xfrm>
            <a:off x="506730" y="1117600"/>
            <a:ext cx="5498021" cy="2362200"/>
          </a:xfrm>
          <a:prstGeom prst="roundRect">
            <a:avLst>
              <a:gd name="adj" fmla="val 2497"/>
            </a:avLst>
          </a:prstGeom>
          <a:solidFill>
            <a:srgbClr val="EDF6F9"/>
          </a:solidFill>
          <a:ln w="12668">
            <a:solidFill>
              <a:srgbClr val="006D77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1417" y="1282700"/>
            <a:ext cx="253365" cy="2540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00792" y="1295400"/>
            <a:ext cx="28755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006D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Factori Cheie Asociați cu Churn</a:t>
            </a:r>
            <a:endParaRPr lang="en-US" sz="1496" dirty="0"/>
          </a:p>
        </p:txBody>
      </p:sp>
      <p:sp>
        <p:nvSpPr>
          <p:cNvPr id="8" name="Text 4"/>
          <p:cNvSpPr txBox="1"/>
          <p:nvPr/>
        </p:nvSpPr>
        <p:spPr>
          <a:xfrm>
            <a:off x="671417" y="1638300"/>
            <a:ext cx="516864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⚠️</a:t>
            </a:r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Satisfacție scăzută (sub 6/10)</a:t>
            </a:r>
            <a:endParaRPr lang="en-US" sz="1197" dirty="0"/>
          </a:p>
        </p:txBody>
      </p:sp>
      <p:sp>
        <p:nvSpPr>
          <p:cNvPr id="9" name="Text 5"/>
          <p:cNvSpPr txBox="1"/>
          <p:nvPr/>
        </p:nvSpPr>
        <p:spPr>
          <a:xfrm>
            <a:off x="671417" y="1892300"/>
            <a:ext cx="516864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⚠️</a:t>
            </a:r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Număr mare de tichete suport (&gt;3)</a:t>
            </a:r>
            <a:endParaRPr lang="en-US" sz="1197" dirty="0"/>
          </a:p>
        </p:txBody>
      </p:sp>
      <p:sp>
        <p:nvSpPr>
          <p:cNvPr id="10" name="Text 6"/>
          <p:cNvSpPr txBox="1"/>
          <p:nvPr/>
        </p:nvSpPr>
        <p:spPr>
          <a:xfrm>
            <a:off x="671417" y="2146300"/>
            <a:ext cx="516864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⚠️</a:t>
            </a:r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Plăți întârziate frecvente (≥2)</a:t>
            </a:r>
            <a:endParaRPr lang="en-US" sz="1197" dirty="0"/>
          </a:p>
        </p:txBody>
      </p:sp>
      <p:sp>
        <p:nvSpPr>
          <p:cNvPr id="11" name="Text 7"/>
          <p:cNvSpPr txBox="1"/>
          <p:nvPr/>
        </p:nvSpPr>
        <p:spPr>
          <a:xfrm>
            <a:off x="671417" y="2400300"/>
            <a:ext cx="516864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⚠️</a:t>
            </a:r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Vechime redusă (&lt;12 luni)</a:t>
            </a:r>
            <a:endParaRPr lang="en-US" sz="1197" dirty="0"/>
          </a:p>
        </p:txBody>
      </p:sp>
      <p:sp>
        <p:nvSpPr>
          <p:cNvPr id="12" name="Text 8"/>
          <p:cNvSpPr txBox="1"/>
          <p:nvPr/>
        </p:nvSpPr>
        <p:spPr>
          <a:xfrm>
            <a:off x="671417" y="2654300"/>
            <a:ext cx="516864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⚠️</a:t>
            </a:r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Absența Autopay</a:t>
            </a:r>
            <a:endParaRPr lang="en-US" sz="1197" dirty="0"/>
          </a:p>
        </p:txBody>
      </p:sp>
      <p:sp>
        <p:nvSpPr>
          <p:cNvPr id="13" name="Text 9"/>
          <p:cNvSpPr txBox="1"/>
          <p:nvPr/>
        </p:nvSpPr>
        <p:spPr>
          <a:xfrm>
            <a:off x="671417" y="2959100"/>
            <a:ext cx="5168646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7" b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Combinația acestor factori crește riscul de churn cu până la 49x</a:t>
            </a:r>
            <a:endParaRPr lang="en-US" sz="1197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06730" y="3632200"/>
            <a:ext cx="228029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10768" y="3632200"/>
            <a:ext cx="24183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006D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Recomandări Operaționale</a:t>
            </a:r>
            <a:endParaRPr lang="en-US" sz="1496" dirty="0"/>
          </a:p>
        </p:txBody>
      </p:sp>
      <p:sp>
        <p:nvSpPr>
          <p:cNvPr id="16" name="Shape 11"/>
          <p:cNvSpPr/>
          <p:nvPr/>
        </p:nvSpPr>
        <p:spPr>
          <a:xfrm>
            <a:off x="506730" y="3962400"/>
            <a:ext cx="5498021" cy="787400"/>
          </a:xfrm>
          <a:prstGeom prst="roundRect">
            <a:avLst>
              <a:gd name="adj" fmla="val 22477"/>
            </a:avLst>
          </a:prstGeom>
          <a:solidFill>
            <a:srgbClr val="EDF6F9"/>
          </a:solidFill>
          <a:ln w="12700">
            <a:solidFill>
              <a:srgbClr val="83C5B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3413" y="4089400"/>
            <a:ext cx="202692" cy="203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12114" y="4064000"/>
            <a:ext cx="499129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7" b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Îmbunătățire Suport</a:t>
            </a:r>
            <a:endParaRPr lang="en-US" sz="1197" dirty="0"/>
          </a:p>
        </p:txBody>
      </p:sp>
      <p:sp>
        <p:nvSpPr>
          <p:cNvPr id="19" name="Text 13"/>
          <p:cNvSpPr txBox="1"/>
          <p:nvPr/>
        </p:nvSpPr>
        <p:spPr>
          <a:xfrm>
            <a:off x="912114" y="4292600"/>
            <a:ext cx="4991291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98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Prioritizare experiență suport pentru clienți Premium și High risk - reducere tichete recurente și timp rezolvare</a:t>
            </a:r>
            <a:endParaRPr lang="en-US" sz="998" dirty="0"/>
          </a:p>
        </p:txBody>
      </p:sp>
      <p:sp>
        <p:nvSpPr>
          <p:cNvPr id="20" name="Shape 14"/>
          <p:cNvSpPr/>
          <p:nvPr/>
        </p:nvSpPr>
        <p:spPr>
          <a:xfrm>
            <a:off x="506730" y="4826000"/>
            <a:ext cx="5498021" cy="787400"/>
          </a:xfrm>
          <a:prstGeom prst="roundRect">
            <a:avLst>
              <a:gd name="adj" fmla="val 22477"/>
            </a:avLst>
          </a:prstGeom>
          <a:solidFill>
            <a:srgbClr val="EDF6F9"/>
          </a:solidFill>
          <a:ln w="12700">
            <a:solidFill>
              <a:srgbClr val="83C5B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33413" y="4953000"/>
            <a:ext cx="202692" cy="2032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12114" y="4927600"/>
            <a:ext cx="499129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7" b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Campanii Satisfacție</a:t>
            </a:r>
            <a:endParaRPr lang="en-US" sz="1197" dirty="0"/>
          </a:p>
        </p:txBody>
      </p:sp>
      <p:sp>
        <p:nvSpPr>
          <p:cNvPr id="23" name="Text 16"/>
          <p:cNvSpPr txBox="1"/>
          <p:nvPr/>
        </p:nvSpPr>
        <p:spPr>
          <a:xfrm>
            <a:off x="912114" y="5156200"/>
            <a:ext cx="4991291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98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Campanii țintite pentru segment cu scor 1-4: follow-up proactiv, oferte upgrade cu beneficii</a:t>
            </a:r>
            <a:endParaRPr lang="en-US" sz="998" dirty="0"/>
          </a:p>
        </p:txBody>
      </p:sp>
      <p:sp>
        <p:nvSpPr>
          <p:cNvPr id="24" name="Shape 17"/>
          <p:cNvSpPr/>
          <p:nvPr/>
        </p:nvSpPr>
        <p:spPr>
          <a:xfrm>
            <a:off x="506730" y="5689600"/>
            <a:ext cx="5498021" cy="609600"/>
          </a:xfrm>
          <a:prstGeom prst="roundRect">
            <a:avLst>
              <a:gd name="adj" fmla="val 37500"/>
            </a:avLst>
          </a:prstGeom>
          <a:solidFill>
            <a:srgbClr val="EDF6F9"/>
          </a:solidFill>
          <a:ln w="12700">
            <a:solidFill>
              <a:srgbClr val="83C5BE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33413" y="5816600"/>
            <a:ext cx="202692" cy="2032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12114" y="5791200"/>
            <a:ext cx="456146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7" b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Activare Autopay</a:t>
            </a:r>
            <a:endParaRPr lang="en-US" sz="1197" dirty="0"/>
          </a:p>
        </p:txBody>
      </p:sp>
      <p:sp>
        <p:nvSpPr>
          <p:cNvPr id="27" name="Text 19"/>
          <p:cNvSpPr txBox="1"/>
          <p:nvPr/>
        </p:nvSpPr>
        <p:spPr>
          <a:xfrm>
            <a:off x="912114" y="6019800"/>
            <a:ext cx="4561461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98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Încurajare Autopay pentru clienți risc mediu/ridicat - reducere plăți întârziate</a:t>
            </a:r>
            <a:endParaRPr lang="en-US" sz="998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156770" y="1117600"/>
            <a:ext cx="228029" cy="22860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6460808" y="1117600"/>
            <a:ext cx="217557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006D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Recomandări Strategice</a:t>
            </a:r>
            <a:endParaRPr lang="en-US" sz="1496" dirty="0"/>
          </a:p>
        </p:txBody>
      </p:sp>
      <p:sp>
        <p:nvSpPr>
          <p:cNvPr id="30" name="Shape 21"/>
          <p:cNvSpPr/>
          <p:nvPr/>
        </p:nvSpPr>
        <p:spPr>
          <a:xfrm>
            <a:off x="6156770" y="1447800"/>
            <a:ext cx="5498021" cy="787400"/>
          </a:xfrm>
          <a:prstGeom prst="roundRect">
            <a:avLst>
              <a:gd name="adj" fmla="val 22477"/>
            </a:avLst>
          </a:prstGeom>
          <a:solidFill>
            <a:srgbClr val="EDF6F9"/>
          </a:solidFill>
          <a:ln w="12700">
            <a:solidFill>
              <a:srgbClr val="FFDDD2"/>
            </a:solidFill>
            <a:prstDash val="solid"/>
          </a:ln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283452" y="1574800"/>
            <a:ext cx="202692" cy="203200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6562154" y="1549400"/>
            <a:ext cx="499129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7" b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Dashboard Operațional</a:t>
            </a:r>
            <a:endParaRPr lang="en-US" sz="1197" dirty="0"/>
          </a:p>
        </p:txBody>
      </p:sp>
      <p:sp>
        <p:nvSpPr>
          <p:cNvPr id="33" name="Text 23"/>
          <p:cNvSpPr txBox="1"/>
          <p:nvPr/>
        </p:nvSpPr>
        <p:spPr>
          <a:xfrm>
            <a:off x="6562154" y="1778000"/>
            <a:ext cx="4991291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98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Integrare scor risc churn în dashboard lunar folosit de Customer Success - monitorizare proactivă</a:t>
            </a:r>
            <a:endParaRPr lang="en-US" sz="998" dirty="0"/>
          </a:p>
        </p:txBody>
      </p:sp>
      <p:sp>
        <p:nvSpPr>
          <p:cNvPr id="34" name="Shape 24"/>
          <p:cNvSpPr/>
          <p:nvPr/>
        </p:nvSpPr>
        <p:spPr>
          <a:xfrm>
            <a:off x="6156770" y="2311400"/>
            <a:ext cx="5498021" cy="787400"/>
          </a:xfrm>
          <a:prstGeom prst="roundRect">
            <a:avLst>
              <a:gd name="adj" fmla="val 22477"/>
            </a:avLst>
          </a:prstGeom>
          <a:solidFill>
            <a:srgbClr val="EDF6F9"/>
          </a:solidFill>
          <a:ln w="12700">
            <a:solidFill>
              <a:srgbClr val="FFDDD2"/>
            </a:solidFill>
            <a:prstDash val="solid"/>
          </a:ln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283452" y="2438400"/>
            <a:ext cx="202692" cy="203200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6562154" y="2413000"/>
            <a:ext cx="4991291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7" b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Model ML Avansat</a:t>
            </a:r>
            <a:endParaRPr lang="en-US" sz="1197" dirty="0"/>
          </a:p>
        </p:txBody>
      </p:sp>
      <p:sp>
        <p:nvSpPr>
          <p:cNvPr id="37" name="Text 26"/>
          <p:cNvSpPr txBox="1"/>
          <p:nvPr/>
        </p:nvSpPr>
        <p:spPr>
          <a:xfrm>
            <a:off x="6562154" y="2641600"/>
            <a:ext cx="4991291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98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Extindere de la scor simplu la model logistic regression/ML pe volum mai mare de date pentru predicții precise</a:t>
            </a:r>
            <a:endParaRPr lang="en-US" sz="998" dirty="0"/>
          </a:p>
        </p:txBody>
      </p:sp>
      <p:sp>
        <p:nvSpPr>
          <p:cNvPr id="38" name="Shape 27"/>
          <p:cNvSpPr/>
          <p:nvPr/>
        </p:nvSpPr>
        <p:spPr>
          <a:xfrm>
            <a:off x="6156770" y="3251200"/>
            <a:ext cx="5498021" cy="2336800"/>
          </a:xfrm>
          <a:prstGeom prst="roundRect">
            <a:avLst>
              <a:gd name="adj" fmla="val 2552"/>
            </a:avLst>
          </a:prstGeom>
          <a:solidFill>
            <a:srgbClr val="FFFFFF"/>
          </a:solidFill>
          <a:ln w="25337">
            <a:solidFill>
              <a:srgbClr val="83C5BE"/>
            </a:solidFill>
            <a:prstDash val="solid"/>
          </a:ln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334125" y="3429000"/>
            <a:ext cx="304038" cy="304800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6714173" y="3454400"/>
            <a:ext cx="154612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006D7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Pașii Următori</a:t>
            </a:r>
            <a:endParaRPr lang="en-US" sz="1795" dirty="0"/>
          </a:p>
        </p:txBody>
      </p:sp>
      <p:sp>
        <p:nvSpPr>
          <p:cNvPr id="41" name="Text 29"/>
          <p:cNvSpPr txBox="1"/>
          <p:nvPr/>
        </p:nvSpPr>
        <p:spPr>
          <a:xfrm>
            <a:off x="6334125" y="3835400"/>
            <a:ext cx="514331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97" b="1" dirty="0">
                <a:solidFill>
                  <a:srgbClr val="83C5BE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1.</a:t>
            </a:r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Implementare oferte retenție pentru 16 clienți High Risk</a:t>
            </a:r>
            <a:endParaRPr lang="en-US" sz="1197" dirty="0"/>
          </a:p>
        </p:txBody>
      </p:sp>
      <p:sp>
        <p:nvSpPr>
          <p:cNvPr id="42" name="Text 30"/>
          <p:cNvSpPr txBox="1"/>
          <p:nvPr/>
        </p:nvSpPr>
        <p:spPr>
          <a:xfrm>
            <a:off x="6334125" y="4114800"/>
            <a:ext cx="514331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97" b="1" dirty="0">
                <a:solidFill>
                  <a:srgbClr val="83C5BE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2.</a:t>
            </a:r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Lansare dashboard monitorizare churn lunar</a:t>
            </a:r>
            <a:endParaRPr lang="en-US" sz="1197" dirty="0"/>
          </a:p>
        </p:txBody>
      </p:sp>
      <p:sp>
        <p:nvSpPr>
          <p:cNvPr id="43" name="Text 31"/>
          <p:cNvSpPr txBox="1"/>
          <p:nvPr/>
        </p:nvSpPr>
        <p:spPr>
          <a:xfrm>
            <a:off x="6334125" y="4394200"/>
            <a:ext cx="514331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97" b="1" dirty="0">
                <a:solidFill>
                  <a:srgbClr val="83C5BE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3.</a:t>
            </a:r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Pilot program îmbunătățire satisfacție Q1</a:t>
            </a:r>
            <a:endParaRPr lang="en-US" sz="1197" dirty="0"/>
          </a:p>
        </p:txBody>
      </p:sp>
      <p:sp>
        <p:nvSpPr>
          <p:cNvPr id="44" name="Text 32"/>
          <p:cNvSpPr txBox="1"/>
          <p:nvPr/>
        </p:nvSpPr>
        <p:spPr>
          <a:xfrm>
            <a:off x="6334125" y="4749800"/>
            <a:ext cx="514331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7" b="1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Timeline: Q1 2024</a:t>
            </a:r>
            <a:endParaRPr lang="en-US" sz="1197" dirty="0"/>
          </a:p>
        </p:txBody>
      </p:sp>
      <p:sp>
        <p:nvSpPr>
          <p:cNvPr id="45" name="Shape 33"/>
          <p:cNvSpPr/>
          <p:nvPr/>
        </p:nvSpPr>
        <p:spPr>
          <a:xfrm>
            <a:off x="6156770" y="5740400"/>
            <a:ext cx="5498021" cy="812800"/>
          </a:xfrm>
          <a:prstGeom prst="roundRect">
            <a:avLst>
              <a:gd name="adj" fmla="val 21094"/>
            </a:avLst>
          </a:prstGeom>
          <a:solidFill>
            <a:srgbClr val="EDF6F9"/>
          </a:solidFill>
          <a:ln/>
        </p:spPr>
      </p:sp>
      <p:sp>
        <p:nvSpPr>
          <p:cNvPr id="46" name="Text 34"/>
          <p:cNvSpPr txBox="1"/>
          <p:nvPr/>
        </p:nvSpPr>
        <p:spPr>
          <a:xfrm>
            <a:off x="6258116" y="5842000"/>
            <a:ext cx="529532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7" dirty="0">
                <a:solidFill>
                  <a:srgbClr val="006D77"/>
                </a:solidFill>
                <a:latin typeface="Microsoft Sans Serif" pitchFamily="34" charset="0"/>
                <a:ea typeface="Microsoft Sans Serif" pitchFamily="34" charset="-122"/>
                <a:cs typeface="Microsoft Sans Serif" pitchFamily="34" charset="-120"/>
              </a:rPr>
              <a:t>💡 Analiza demonstrează că datele existente permit identificarea precisă a clienților cu risc de churn și implementarea unei strategii de retenție profitabile cu ROI de 3.8x.</a:t>
            </a:r>
            <a:endParaRPr lang="en-US" sz="119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2025-12-04T16:49:50Z</dcterms:created>
  <dcterms:modified xsi:type="dcterms:W3CDTF">2025-12-04T16:49:50Z</dcterms:modified>
</cp:coreProperties>
</file>